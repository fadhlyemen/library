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5870448" y="868680"/>
            <a:ext cx="457200" cy="457200"/>
          </a:xfrm>
          <a:prstGeom prst="diamond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200" b="1" i="0">
                <a:solidFill>
                  <a:srgbClr val="C9A84C"/>
                </a:solidFill>
                <a:latin typeface="Amiri"/>
              </a:rPr>
              <a:t>العمل الحرّ بالذكاء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Amiri"/>
              </a:rPr>
              <a:t>دليل المستقلّ اليمني والعربي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C9A84C"/>
                </a:solidFill>
                <a:latin typeface="Cambria"/>
              </a:rPr>
              <a:t>AI-Powered Freelancing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Cambria"/>
              </a:rPr>
              <a:t>A Guide for Yemeni and Arab Independent Workers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Cambria"/>
              </a:rPr>
              <a:t>LLM4Yemen Program  ·  Track A  ·  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تحويل المهارة إلى دخل حقيقيّ  ·  Skill into Real Income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6455664"/>
            <a:ext cx="11460175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Amiri"/>
              </a:rPr>
              <a:t>بِسْمِ اللَّهِ الرَّحْمَٰنِ الرَّحِيمِ</a:t>
            </a:r>
          </a:p>
        </p:txBody>
      </p:sp>
      <p:sp>
        <p:nvSpPr>
          <p:cNvPr id="6" name="Oval 5"/>
          <p:cNvSpPr/>
          <p:nvPr/>
        </p:nvSpPr>
        <p:spPr>
          <a:xfrm>
            <a:off x="6040983" y="2596896"/>
            <a:ext cx="109728" cy="109728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1B3A5C"/>
                </a:solidFill>
                <a:latin typeface="Amiri"/>
              </a:rPr>
              <a:t>﴿هُوَ الَّذِي جَعَلَ لَكُمُ الْأَرْضَ ذَلُولًا فَامْشُوا فِي مَنَاكِبِهَا وَكُلُوا مِنْ رِزْقِهِ﴾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1">
                <a:solidFill>
                  <a:srgbClr val="6B6B6B"/>
                </a:solidFill>
                <a:latin typeface="Amiri"/>
              </a:rPr>
              <a:t>— سورة الملك: ١٥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1B3A5C"/>
                </a:solidFill>
                <a:latin typeface="Cambria"/>
              </a:rPr>
              <a:t>"He made the earth tractable for you — so walk its paths and eat from His provision."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— Surat Al-Mulk,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أهداف المحاضرة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Lecture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Cambria"/>
              </a:rPr>
              <a:t>By the end of this week, you will be able to:    ·    بنهاية هذا الأسبوع، ستكون قادراً على: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165506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5506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Pick the right platform — Anchor (Arabic) + Range (Global)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اختيار المنصّة الصحيحة — مرساة عربية + مدى عالمي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2221992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03504" y="2368296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368296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13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Choose 1 of 12 profitable AI specializations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334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اختيار واحد من ١٢ تخصّصاً مربحاً بالذكاء الاصطناعي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2935224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03504" y="3081528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081528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266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Build a 7-second profile that wins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467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بناء ملفّ تعريفي يَفوز بالعملاء في ٧ ثوانٍ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71600" y="3648456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3504" y="3794760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79476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3989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Write proposals using the MDDP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5993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كتابة عروض فائزة بإطار MDDP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71600" y="4361688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03504" y="4507992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507992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531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Climb the price ladder from $5 to $100/hour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731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الصعود في سلّم السعر من ٥ إلى ١٠٠ دولار/ساعة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71600" y="5074920"/>
            <a:ext cx="10360152" cy="0"/>
          </a:xfrm>
          <a:prstGeom prst="line">
            <a:avLst/>
          </a:prstGeom>
          <a:ln w="635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3504" y="5221224"/>
            <a:ext cx="530352" cy="530352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5221224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Receive payments in Yemen — six methods, real risks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C1C1C"/>
                </a:solidFill>
                <a:latin typeface="Amiri"/>
              </a:rPr>
              <a:t>استلام المدفوعات في اليمن — ست طرق، مخاطر حقيقيّة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خارطة الطريق — اثنا عشر فصلاً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Roadmap — Twelve Chapters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788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Why AI Opens Unprecedented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لماذا الذكاء الاصطناعي يَفتح فرصاً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788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The Platforms — Which One,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المنصّات — أيّها ولماذا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Choosing a Profitable Specialization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اختيار تخصّص مربح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Building a Strong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بناء ملفّ تعريفي قويّ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9788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Building a Portfolio from Zero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بناء معرض الأعمال من الصفر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9788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Writing Winning Proposals — 20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كتابة عروض فائزة — ٢٠ قالباً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10058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0236" y="11384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11430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896" y="10698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Pricing — Beginner to Expert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8896" y="13898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التسعير — من المبتدئ إلى الخبير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187452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0236" y="200710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01168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8896" y="193852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Client Communication — Message to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68896" y="22585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التواصل مع العميل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27648" y="274320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60236" y="287578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88036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280720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Receiving Payments in Yemen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8896" y="3127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استلام المدفوعات في اليمن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7648" y="361188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60236" y="374446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374904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367588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Yemen-Specific Challenges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39959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التحدّيات الخاصّة باليمن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448056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60236" y="461314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61772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8896" y="454456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Building Reputation &amp; Five-Star Reviews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8896" y="48646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بناء سمعة وتقييمات خمس نجوم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7648" y="5349240"/>
            <a:ext cx="548640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60236" y="5481828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27648" y="5486400"/>
            <a:ext cx="777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8896" y="5413248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From Freelancer to Small Agency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68896" y="573328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من العمل الحرّ إلى وكالة صغيرة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لماذا الذكاء الاصطناعي يَفتح فرصاً غير مسبوقة للعرب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Why AI Opens Unprecedented Opportunities for Arabs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﴿هُوَ الَّذِي جَعَلَ لَكُمُ الْأَرْضَ ذَلُولًا فَامْشُوا فِي مَنَاكِبِهَا وَكُلُوا مِنْ رِزْقِهِ﴾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الملك: ١٥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"He made the earth tractable for you — so walk its paths and eat from His provision."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Al-Mulk,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قصّة عبد الرحمن — ١١ شهراً غيّرت كلّ شيء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Abdul Rahman's Story — 11 Months That Changed Everything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047" y="1188720"/>
            <a:ext cx="507492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8047" y="1188720"/>
            <a:ext cx="507492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047" y="12344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May 2025  ·  مايو ٢٠٢٥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1965960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Computer engineering graduate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2367" y="2377440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خرّيج هندسة حاسوب — جامعة صنعاء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2447" y="2971800"/>
            <a:ext cx="3246120" cy="0"/>
          </a:xfrm>
          <a:prstGeom prst="line">
            <a:avLst/>
          </a:prstGeom>
          <a:ln w="1016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047" y="310896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6B6B6B"/>
                </a:solidFill>
                <a:latin typeface="Cambria"/>
              </a:rPr>
              <a:t>3,000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3794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B3A5C"/>
                </a:solidFill>
                <a:latin typeface="Cambria"/>
              </a:rPr>
              <a:t>Yemeni Riyals / day  (~$3)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4160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ريال يمنيّ يوميّاً  (~٣ دولارات)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367" y="46177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Selling auto parts in a Sanaa 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8687" y="301752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8727" y="1188720"/>
            <a:ext cx="507492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188720"/>
            <a:ext cx="50749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123444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April 2026  ·  إبريل ٢٠٢٦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1965960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AI freelancer · same person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377440"/>
            <a:ext cx="4526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مستقلّ بالذكاء الاصطناعي — الشخص نفسه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93127" y="2971800"/>
            <a:ext cx="324612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78727" y="3108960"/>
            <a:ext cx="5074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9A84C"/>
                </a:solidFill>
                <a:latin typeface="Cambria"/>
              </a:rPr>
              <a:t>$2,400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794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1B3A5C"/>
                </a:solidFill>
                <a:latin typeface="Cambria"/>
              </a:rPr>
              <a:t>/ month  (~800× growth)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416052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شهرياً  (~٨٠٠× زيادة)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047" y="4617720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Building chatbots for Gulf e-commerce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C9A84C"/>
                </a:solidFill>
                <a:latin typeface="Cambria"/>
              </a:rPr>
              <a:t>This story isn't exceptional anymore. In the past two years, it became ordinary.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هذه القصّة لم تَعد استثنائيّة. صارت في السنتَين الماضيتَين عاديّة.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أرقام السوق ٢٠٢٦ — لماذا الآن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2026 Numbers —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Source: McKinsey + ILO 2025 reports · Upwork rate data · Khamsat platform stats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999" y="1508760"/>
            <a:ext cx="26974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999" y="15087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99" y="17830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$6T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79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Global freelance market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السوق العالمي للعمل الحرّ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6071" y="1508760"/>
            <a:ext cx="26974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071" y="15087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6071" y="17830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1.6B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8951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Freelancers worldwide (~½ workforce)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8951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مستقلّون في العالم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1508760"/>
            <a:ext cx="26974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15087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8143" y="17830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47%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AI-augmented freelance growth 2024→25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نموّ العمل المعزّز بالذكاء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0215" y="1508760"/>
            <a:ext cx="26974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215" y="1508760"/>
            <a:ext cx="26974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0215" y="17830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C9A84C"/>
                </a:solidFill>
                <a:latin typeface="Cambria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095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Arabs earning &gt;$1K/mo · 2023→25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095" y="320040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C1C1C"/>
                </a:solidFill>
                <a:latin typeface="Amiri"/>
              </a:rPr>
              <a:t>تضاعُف العرب &gt;$1K شهريّاً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31920"/>
            <a:ext cx="11183112" cy="2103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2336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Average hourly rate — Yemeni freelancer on Upwork (2025)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348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Amiri"/>
              </a:rPr>
              <a:t>متوسّط الأجر بالساعة — مستقلّ يمنيّ على Upwork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8087" y="5029200"/>
            <a:ext cx="310896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0967" y="5029200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$18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12567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Content writing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2567" y="5486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الكتابة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1367" y="5029200"/>
            <a:ext cx="310896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24247" y="5029200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$22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Translation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5847" y="5486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الترجمة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4647" y="5029200"/>
            <a:ext cx="3108960" cy="8686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7527" y="5029200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mbria"/>
              </a:rPr>
              <a:t>$32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79127" y="51206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AI-assisted dev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9127" y="5486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البرمجة بالذكاء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أشياء تغيّرت — وفتحت الباب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Things That Changed — and Opened the Door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91440" cy="1691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8660" y="12573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" y="12573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88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Language barrier collapsed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1887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انخفض حاجز اللغة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60020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Before:  Before ChatGPT: Yemeni freelancer without strong English was capped at Arabic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4884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Now:  Now: write in Arabic, translate with AI, review, deliver pro English. This is mastery, not cheating.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91440" cy="1691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" y="31318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" y="31318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063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Productivity 10×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تسارعت الإنتاجيّة ١٠×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47472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Before:  What took 8 hours (analyzing an 80-page report) now takes 40 minutes with Claude + Gemini.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2336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Now:  A freelancer working 4 hrs/day can now deliver what used to require a full-time employee.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11183112" cy="1691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46320"/>
            <a:ext cx="91440" cy="1691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" y="50063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" y="50063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9377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Remote work normalized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937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الموقع لم يَعد عائقاً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34924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Before:  COVID-19 broke the psychological wall. Remote hiring became default.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89788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Now:  A Munich company hires from Sanaa as easily as from Berlin — if the work is comparable.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المنصّات — مرساة عربيّة ومدى عالميّ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The Platforms — Anchor +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﴿وَجَعَلْنَا لَكُمْ فِيهَا مَعَايِشَ وَمَنْ لَسْتُمْ لَهُ بِرَازِقِينَ﴾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الحجر: ٢٠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We have made for you means of livelihood — and for those whom you do not provide."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Al-Hijr,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قاعدة قبل المقارنة — مرساة ومدى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Rule Before Comparison — Anchor +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1">
                <a:solidFill>
                  <a:srgbClr val="1B3A5C"/>
                </a:solidFill>
                <a:latin typeface="Cambria"/>
              </a:rPr>
              <a:t>Two platforms — not four. Not three. Two.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اثنتان فقط — واحدة عربيّة (مرساة) وواحدة عالميّة (مدى).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287" y="2286000"/>
            <a:ext cx="5440680" cy="3611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2287" y="2286000"/>
            <a:ext cx="54406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287" y="237744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ANCHOR  ·  المرساة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0632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An Arabic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34290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منصّة عربيّة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2367" y="3977640"/>
            <a:ext cx="416052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6607" y="416051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Why: speed of first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607" y="461772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Less competition for Arabic content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Clients more forgiving with beginners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No language barrier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2286000"/>
            <a:ext cx="5440680" cy="3611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2286000"/>
            <a:ext cx="544068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237744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RANGE  ·  المدى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30632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A global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342900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منصّة عالميّة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18807" y="3977640"/>
            <a:ext cx="4160520" cy="0"/>
          </a:xfrm>
          <a:prstGeom prst="line">
            <a:avLst/>
          </a:prstGeom>
          <a:ln w="1016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53047" y="416051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1B3A5C"/>
                </a:solidFill>
                <a:latin typeface="Cambria"/>
              </a:rPr>
              <a:t>Why: ceiling of earnings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461772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Rates can be 10× higher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Bigger projects, longer contracts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1C1C1C"/>
                </a:solidFill>
                <a:latin typeface="Cambria"/>
              </a:rPr>
              <a:t>✓  International references on your 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Whoever starts on all four platforms spends their time managing files instead of finishing 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منصّات عالميّة — مقارنة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Global Platforms —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09728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09728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Pay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09728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972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Yemen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0972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Best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645920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Upwork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645920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645920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5–14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645920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645920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Accepted, slow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645920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Steady mid-tier 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359152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Fiverr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359152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359152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14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359152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359152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359152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Productized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72384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72384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Freelancer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072384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10–20%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072384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14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3072384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072384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Open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072384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Secondary platform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785616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Toptal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785616"/>
            <a:ext cx="15087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varies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785616"/>
            <a:ext cx="16459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2–7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785616"/>
            <a:ext cx="16916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Very 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785616"/>
            <a:ext cx="1874519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After 1+ yr 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3785616"/>
            <a:ext cx="219456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9A84C"/>
                </a:solidFill>
                <a:latin typeface="Cambria"/>
              </a:rPr>
              <a:t>Elite tier · Fortune 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54880"/>
            <a:ext cx="11183112" cy="13716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84632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Recommendation: Upwork as your global "range" platform.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FFFFFF"/>
                </a:solidFill>
                <a:latin typeface="Cambria"/>
              </a:rPr>
              <a:t>Many write "Yemen — Remote" — Upwork accepts Yemeni freelancers in 2026 with care on profile wording.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6692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Amiri"/>
              </a:rPr>
              <a:t>التوصية: Upwork كمنصّة "مدى" عالميّة. اكتب "Yemen — Remote" — مقبولة في ٢٠٢٦ بحرص.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أربع منصّات عربيّة — مقارنة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Four Arab Platforms —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Khamsat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خمسات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Largest Arab freelance platform · 250K+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Cambria"/>
              </a:rPr>
              <a:t>→ 20% fee · easy entry · Arabic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48920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80%+ of successful Yemeni freelancers START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406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Mostaql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مستقلّ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Sister to Khamsat · project-based not service-based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Cambria"/>
              </a:rPr>
              <a:t>→ 15% fee · projects $50–5,000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606040"/>
            <a:ext cx="48920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Step up from Khamsat to bigger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544068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Bahr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Amiri"/>
              </a:rPr>
              <a:t>بحر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879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Saudi platform launched 2022 · Gulf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9943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Cambria"/>
              </a:rPr>
              <a:t>→ 10% fee · high-quality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48920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02352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Best Gulf rates — but may need Gulf ID verification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593592"/>
            <a:ext cx="5440680" cy="2331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593592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Tasmeem.ME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39312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i="0">
                <a:solidFill>
                  <a:srgbClr val="1B3A5C"/>
                </a:solidFill>
                <a:latin typeface="Amiri"/>
              </a:rPr>
              <a:t>تصميم.مي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1879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Design-only specialist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59943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Cambria"/>
              </a:rPr>
              <a:t>→ 15% fee · narrow scope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102352"/>
            <a:ext cx="48920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102352"/>
            <a:ext cx="4892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Choose only if you're a designer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اختيار تخصّص مربح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Choosing a Profitable Specialization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﴿قُلْ كُلٌّ يَعْمَلُ عَلَىٰ شَاكِلَتِهِ فَرَبُّكُمْ أَعْلَمُ بِمَنْ هُوَ أَهْدَىٰ سَبِيلًا﴾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الإسراء: ٨٤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"Say: each works according to their disposition — your Lord knows best who is most rightly guided."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Al-Isra, 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نموذج T — العمود العميق والخطّ الأفقيّ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T-Shape — Deep Pillar + Wide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1">
                <a:solidFill>
                  <a:srgbClr val="1B3A5C"/>
                </a:solidFill>
                <a:latin typeface="Cambria"/>
              </a:rPr>
              <a:t>"Follow your passion" is bad advice. Passion doesn't pay bills.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«اتّبع شغفك» نصيحة سيّئة. الشغف لا يَدفع الفواتير.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447" y="2560320"/>
            <a:ext cx="6400800" cy="5486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5447" y="25603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Supporting skills  ·  مهارات داعمة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3108960"/>
            <a:ext cx="2560320" cy="1920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5687" y="3200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C9A84C"/>
                </a:solidFill>
                <a:latin typeface="Cambria"/>
              </a:rPr>
              <a:t>ONE deep specialty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5687" y="4069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تخصّص واحد عميق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687" y="45720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↓ depth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349240"/>
            <a:ext cx="10360152" cy="914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Example: Arabic→English translator (the pillar) who also formats Word docs and writes catchy headlines (the bar).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مثال: مترجم عربيّ-إنجليزيّ (العمود) يُتقن أيضاً تنسيق Word وكتابة العناوين (الخطّ الأفقيّ).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Whoever tries to specialize in everything ends up a clown — expert in nothing.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اثنا عشر تخصّصاً مربحاً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Twelve Profitable Specializations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16128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Arabic content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5087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$0.04–0.12/word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09728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09728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972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1887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116128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Bilingual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15087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$0.07–0.20/word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96596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1965960"/>
            <a:ext cx="7772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965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05740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02996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Chatbot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37744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$300–2,500 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96596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965960"/>
            <a:ext cx="7772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9632" y="196596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205740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02996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Data analysis &amp;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9792" y="237744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$40–100/hr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3464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834640"/>
            <a:ext cx="7772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346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292608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289864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AI-assisted programming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24612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$35–120/hr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283464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9632" y="283464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283464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292608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289864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AI-assisted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324612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$30–80/hr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70332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370332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7033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379476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7.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76732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Short-form video editing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11480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$30–150/video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370332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370332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9632" y="370332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379476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8.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376732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Research &amp; summarization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9792" y="411480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$25–60/hr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57200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2920" y="457200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5720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466344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9.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83080" y="463600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Social media management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83080" y="498348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$300–1,500/mo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457200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9632" y="4572000"/>
            <a:ext cx="777240" cy="777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9632" y="45720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A+B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2" y="466344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10.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79792" y="463600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AI strategy consulting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9792" y="498348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$80–200/hr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44068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440680"/>
            <a:ext cx="777240" cy="7772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5440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17320" y="55321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11.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550468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Curriculum &amp; training design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3080" y="58521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$40–80/hr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99632" y="5440680"/>
            <a:ext cx="5532120" cy="7772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99632" y="5440680"/>
            <a:ext cx="777240" cy="7772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9632" y="54406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14032" y="55321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12.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9792" y="550468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Workflow automation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79792" y="58521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$50–120/hr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المسار أ والمسار ب — أيّهما أنت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Track A vs Track B — Which Are You?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1097280"/>
            <a:ext cx="5440680" cy="46634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1097280"/>
            <a:ext cx="54406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287" y="118872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Track A  ·  المسار 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1874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Content · Writing · Design ·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23317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محتوى · كتابة · تصميم · ترجمة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2367" y="2926080"/>
            <a:ext cx="416052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8047" y="3108960"/>
            <a:ext cx="470916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Lower entry barrier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Faster first earnings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Strong on Arab platforms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Realistic 12-month target: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1" i="0">
                <a:solidFill>
                  <a:srgbClr val="C9A84C"/>
                </a:solidFill>
                <a:latin typeface="Cambria"/>
              </a:rPr>
              <a:t>$1,500 – $2,500 /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1097280"/>
            <a:ext cx="5440680" cy="46634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097280"/>
            <a:ext cx="544068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1188720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C9A84C"/>
                </a:solidFill>
                <a:latin typeface="Cambria"/>
              </a:rPr>
              <a:t>Track B  ·  المسار 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047" y="187452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Engineering · Code · Data ·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3317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هندسة · برمجة · بيانات · أتمتة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18807" y="2926080"/>
            <a:ext cx="4160520" cy="0"/>
          </a:xfrm>
          <a:prstGeom prst="line">
            <a:avLst/>
          </a:prstGeom>
          <a:ln w="1016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644487" y="3108960"/>
            <a:ext cx="470916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Higher ceiling rates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Bigger global market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00" b="1" i="0">
                <a:solidFill>
                  <a:srgbClr val="1B3A5C"/>
                </a:solidFill>
                <a:latin typeface="Cambria"/>
              </a:rPr>
              <a:t>✓  Steeper learning curve · longer ramp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</a:pPr>
            <a:r>
              <a:rPr sz="1200" b="0" i="1">
                <a:solidFill>
                  <a:srgbClr val="6B6B6B"/>
                </a:solidFill>
                <a:latin typeface="Cambria"/>
              </a:rPr>
              <a:t>Realistic 12-month target: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800" b="1" i="0">
                <a:solidFill>
                  <a:srgbClr val="C9A84C"/>
                </a:solidFill>
                <a:latin typeface="Cambria"/>
              </a:rPr>
              <a:t>$2,500 – $5,000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Pick ONE track for your first 12 months. Switching mid-way costs you 6 months.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بناء ملفّ تعريفيّ قويّ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Building a Strong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﴿وَمَنْ أَحْسَنُ قَوْلًا مِمَّنْ دَعَا إِلَى اللَّهِ وَعَمِلَ صَالِحًا﴾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فصّلت: ٣٣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who is better in speech than one who calls to Allah and works righteousness?"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Fussilat, 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قاعدة السبع ثوانٍ — ستّة عناصر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7-Second Rule — Six Elements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 i="0">
                <a:solidFill>
                  <a:srgbClr val="C9A84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seconds — that's the average client read time for your profile (Upwork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هذه السبع ثوانٍ يجب أن تكون أقوى ما كتبتَ في حياتك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690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3690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5209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209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30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130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صورة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130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Pro shot · clear 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09649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09649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41168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41168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1089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Headline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1089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عنوان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1089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The one line they read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608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75608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07127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7127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7048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048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وصف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7048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Four paragraphs that build trust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1567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1567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73086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3086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3007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Skills tags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3007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مهارات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3007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Words that feed the algorithm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07526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07526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39045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39045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8966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Portfolio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8966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معرض أعمال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8966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Proof — chapter 5 covers this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73485" y="3749039"/>
            <a:ext cx="1874519" cy="17830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073485" y="3749039"/>
            <a:ext cx="1874519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805004" y="3909059"/>
            <a:ext cx="411480" cy="41148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5004" y="390905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4925" y="44348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Packages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4925" y="475487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باقات وأسعار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64925" y="5120639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B6B6B"/>
                </a:solidFill>
                <a:latin typeface="Cambria"/>
              </a:rPr>
              <a:t>Frame that makes them decide fast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معادلة العنوان — النتيجة + الأداة + الجمهور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Title Formula — Result + Tool +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The headline is the line that summarizes you. Three elements,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554480"/>
            <a:ext cx="26974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RESULT  ·  النتيجة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65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1554480"/>
            <a:ext cx="2286000" cy="594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55448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TOOL  ·  الأداة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54480"/>
            <a:ext cx="365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mbria"/>
              </a:rP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554480"/>
            <a:ext cx="265176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55448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AUDIENCE  ·  الجمهور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Cambria"/>
              </a:rPr>
              <a:t>✗  BAD examples — they describe YOU, not the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8531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❌  "Freelancer with experience in writing and translation"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27248"/>
            <a:ext cx="8531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❌  "AI Expert | Programmer | Designer"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19856"/>
            <a:ext cx="8531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❌  "Hard worker, fast delivery, contact me"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  GOOD examples — measurable result + specific tool + clear audience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103601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✅  "Arabic Content That Doubles Your Saudi E-Commerce Conversions | Powered by Claude"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3601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✅  "Custom Chatbots That Cut Customer Support Costs 60% | Voiceflow Specialist for MENA SMBs"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601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✅  "Bilingual Translations Trusted by Yemeni &amp; Gulf Legal Firms | DeepL-Augmented, Human-Polished"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بنية الوصف — أربع فقرات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Description Structure — Four Paragraphs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1280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91440" cy="12801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4380" y="12115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" y="12115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43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143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خطّاف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143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3 lines max. Address the client's pain — not yourself.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600200"/>
            <a:ext cx="9921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645920"/>
            <a:ext cx="9646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"Building human customer support costs you $1,500/month — and customers leave after 4 hours of no reply. An AI chatbot solves both in 2 days."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11183112" cy="1280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468880"/>
            <a:ext cx="91440" cy="1280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4380" y="25831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" y="25831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514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Credibility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514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مصداقيّة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5 lines. Who you served, what results, what makes you different.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2971800"/>
            <a:ext cx="9921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3017520"/>
            <a:ext cx="9646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"I've built chatbots for 7 Saudi &amp; Kuwaiti stores in the past 6 months. Average results: 60% drop in support tickets, 35% lift in visitor conversion."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840480"/>
            <a:ext cx="11183112" cy="1280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840480"/>
            <a:ext cx="91440" cy="12801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4380" y="39547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" y="39547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إجراء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5–7 lines. How you work — gives confidence that the work is organized.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91640" y="4343400"/>
            <a:ext cx="9921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4389120"/>
            <a:ext cx="9646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"4 steps: 1) 30-min discovery call. 2) Written conversation map for approval. 3) Build in 5–7 days with weekly check-ins. 4) Delivery + 30 days free support."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83112" cy="12801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12080"/>
            <a:ext cx="91440" cy="12801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4380" y="53263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" y="53263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257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257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دعوة للحوار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57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2 lines. A small, low-commitment next step — not "hire me now".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5715000"/>
            <a:ext cx="9921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5760720"/>
            <a:ext cx="9646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"Click 'contact me' and send your site link. I'll reply within 24 hours with 3 specific chatbot ideas — free, no obligation."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بناء معرض الأعمال من الصفر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Building a Portfolio from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﴿وَأَنْ لَيْسَ لِلْإِنْسَانِ إِلَّا مَا سَعَىٰ ۞ وَأَنَّ سَعْيَهُ سَوْفَ يُرَىٰ﴾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النجم: ٣٩-٤٠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"Man can have nothing but what he strives for — and his striving will be seen."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An-Najm, 39–40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 استراتيجيّات لبناء معرض من الصفر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Strategies to Build a Portfolio from Zero</a:t>
            </a:r>
          </a:p>
        </p:txBody>
      </p:sp>
      <p:sp>
        <p:nvSpPr>
          <p:cNvPr id="6" name="Oval 5"/>
          <p:cNvSpPr/>
          <p:nvPr/>
        </p:nvSpPr>
        <p:spPr>
          <a:xfrm>
            <a:off x="662940" y="12115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" y="12115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09728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170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Self-work for a real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1704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عمل ذاتيّ لعميل حقيقيّ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54480"/>
            <a:ext cx="9646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Pick a real Saudi store. Don't contact them. Build a sample piece. Label it "hypothetical sample".</a:t>
            </a:r>
          </a:p>
        </p:txBody>
      </p:sp>
      <p:sp>
        <p:nvSpPr>
          <p:cNvPr id="12" name="Oval 11"/>
          <p:cNvSpPr/>
          <p:nvPr/>
        </p:nvSpPr>
        <p:spPr>
          <a:xfrm>
            <a:off x="662940" y="21717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" y="21717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05740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1305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Volunteer for a known 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305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تطوّع لمنظّمة معروفة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514600"/>
            <a:ext cx="9646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UNHCR, MSF, Qatar Charity, local mosques. 3–5 days max. Get a testimonial + portfolio piece.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" y="31318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" y="31318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01752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0906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Small jobs for relatives &amp; friends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أعمال صغيرة للأقارب والمعارف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474720"/>
            <a:ext cx="9646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Your cousin's small business. Real client, real outcome — even if pay is small or zero.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" y="409194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" y="40919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97764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4050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Open a personal AI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0507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افتح مشروع AI شخصيّ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434840"/>
            <a:ext cx="9646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Build a Zakat calculator. A simple chatbot. Publish on Vercel. A live link beats five PDFs.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" y="5052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" y="5052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937760"/>
            <a:ext cx="10012680" cy="8686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0109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Replicate a famous case 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010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أعد بناء حالة شهيرة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394960"/>
            <a:ext cx="9646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Take a published case study, rebuild it from scratch with your own twist, document the process.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Always disclose: "sample / training piece / hypothetical". Never claim a client you didn't have. Honesty is respected.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 قطع ممتازة &gt; اثنتا عشرة متوسّطة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3 Excellent Pieces &gt; 12 Mediocre 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1188720"/>
            <a:ext cx="5440680" cy="3840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1188720"/>
            <a:ext cx="54406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287" y="12527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✗  Twelve mediocre pieces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647" y="19659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35327" y="19659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4007" y="19659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2687" y="19659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66647" y="26517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5327" y="26517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04007" y="26517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72687" y="26517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6647" y="33375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5327" y="33375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04007" y="33375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72687" y="3337560"/>
            <a:ext cx="777240" cy="59436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607" y="4206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Client reads profile → sees clutter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607" y="45720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B84747"/>
                </a:solidFill>
                <a:latin typeface="Cambria"/>
              </a:rPr>
              <a:t>leaves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8727" y="1188720"/>
            <a:ext cx="5440680" cy="3840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8727" y="1188720"/>
            <a:ext cx="54406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1252728"/>
            <a:ext cx="5440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✓  Three excellent pieces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04507" y="2194560"/>
            <a:ext cx="1280160" cy="12801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4507" y="21945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mbria"/>
              </a:rPr>
              <a:t>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58987" y="2194560"/>
            <a:ext cx="1280160" cy="12801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8987" y="21945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mbria"/>
              </a:rPr>
              <a:t>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13467" y="2194560"/>
            <a:ext cx="1280160" cy="12801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13467" y="219456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mbria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047" y="4206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Client reads profile → sees focus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047" y="45720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hires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One excellent piece equals fifty mediocre ones. The minimum to publish is 3.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قطعة واحدة ممتازة تُساوي ٥٠ قطعة متوسّطة. الحدّ الأدنى للنشر ٣ قطع.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كتابة عروض فائزة — العشرون قالباً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Writing Winning Proposals — 20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﴿ادْعُ إِلَىٰ سَبِيلِ رَبِّكَ بِالْحِكْمَةِ وَالْمَوْعِظَةِ الْحَسَنَةِ وَجَادِلْهُمْ بِالَّتِي هِيَ أَحْسَنُ﴾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النحل: ١٢٥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"Invite to the way of your Lord with wisdom and good instruction, and argue with them in the best manner."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An-Nahl, 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٩٥٪ من العروض تَفشل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95% of Proposals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 i="0">
                <a:solidFill>
                  <a:srgbClr val="C9A84C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seconds — average client read time per proposal (Upwork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العميل يقرأ ٣٠–٨٠ عرضاً للمشروع الواحد. متوسّط القراءة: ١١ ثانية.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Every losing proposal opens the same way — the client has read these 50 times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8531352" cy="3840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270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B84747"/>
                </a:solidFill>
                <a:latin typeface="Cambria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251960"/>
            <a:ext cx="7589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"Hello, I am interested in your project..."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709160"/>
            <a:ext cx="8531352" cy="3840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727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B84747"/>
                </a:solidFill>
                <a:latin typeface="Cambria"/>
              </a:rPr>
              <a:t>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709160"/>
            <a:ext cx="7589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"I have many years of experience in this field..."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166360"/>
            <a:ext cx="8531352" cy="3840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1846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B84747"/>
                </a:solidFill>
                <a:latin typeface="Cambria"/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66360"/>
            <a:ext cx="7589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"السلام عليكم، أنا مستقلّ يمنيّ خبير في مجالك..."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5623560"/>
            <a:ext cx="8531352" cy="384048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641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B84747"/>
                </a:solidFill>
                <a:latin typeface="Cambria"/>
              </a:rP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5623560"/>
            <a:ext cx="7589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"I read your project carefully. Let me show you my work..."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The next slide shows the 4-step framework that flips you to the winning 5%.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إطار MDDP — البِنية الرباعيّة للعرض الفائز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MDDP Framework — Four-Step Winning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Every winning proposal follows this order: M → D → D → 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91440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63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Mirror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63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أَرِني أنّك قرأتَ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First line proves you read the post. Quote a specific phrase or detail.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874520"/>
            <a:ext cx="9921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920240"/>
            <a:ext cx="9646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"You mentioned you use Shopify and your conversion rate is 1.4%. That's low for a Saudi fashion store — average is 2.6%."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9748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91440" cy="1188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Diagnose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43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2E75B6"/>
                </a:solidFill>
                <a:latin typeface="Amiri"/>
              </a:rPr>
              <a:t>اسم المشكلة الحقيقيّة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Name the real problem the client may not have named.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40" y="3154680"/>
            <a:ext cx="9921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200400"/>
            <a:ext cx="9646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"Low conversion is rarely a design issue — it's a copy issue. Your visitors leave because the first line doesn't answer 'is this real, when does it ship?'"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7764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77640"/>
            <a:ext cx="91440" cy="11887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406908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Demonstrate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أثبت أنّك حللتَ مماثلاً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Link to a portfolio piece that solved a similar problem. Concrete numbers.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4434840"/>
            <a:ext cx="9921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4480560"/>
            <a:ext cx="9646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"In my portfolio, I rewrote a similar Saudi store product page: [link]. The first 40 words answer the two key buyer questions. Expected lift: 20–35%."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257800"/>
            <a:ext cx="11183112" cy="11887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257800"/>
            <a:ext cx="91440" cy="11887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303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5303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اقترح خطوة صغيرة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Don't say "hire me." Propose a small low-commitment step — sample, call, diagnostic.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91640" y="5715000"/>
            <a:ext cx="9921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5760720"/>
            <a:ext cx="9646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"Send your store link. Within 24 hours I'll send you a free rewritten version of one product (my pick). If you like it, we talk about the full project."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التسعير — من المبتدئ إلى الخبير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Pricing — Beginner to Expert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﴿يَا أَيُّهَا الَّذِينَ آمَنُوا أَوْفُوا بِالْعُقُودِ﴾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المائدة: 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"O you who have believed, fulfill your contracts."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Al-Ma'idah,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ثلاثة موديلات للتسعير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Three Pricing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7987" y="1097280"/>
            <a:ext cx="3703320" cy="4754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7987" y="109728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9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B3A5C"/>
                </a:solidFill>
                <a:latin typeface="Cambria"/>
              </a:rPr>
              <a:t>Hourly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9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C9A84C"/>
                </a:solidFill>
                <a:latin typeface="Amiri"/>
              </a:rPr>
              <a:t>بالساعة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22860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$X per hour worked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297179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C9A84C"/>
                </a:solidFill>
                <a:latin typeface="Cambria"/>
              </a:rPr>
              <a:t>✓ Wins: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2918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Simple · transparent · safe for beginners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4023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" y="43434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Income capped = hours ×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307" y="5120640"/>
            <a:ext cx="31546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" y="512064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Beginners · ongoing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4187" y="1097280"/>
            <a:ext cx="3703320" cy="4754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4187" y="109728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41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1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2E75B6"/>
                </a:solidFill>
                <a:latin typeface="Amiri"/>
              </a:rPr>
              <a:t>ثابت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7067" y="22860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$X for the whole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7067" y="297179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E75B6"/>
                </a:solidFill>
                <a:latin typeface="Cambria"/>
              </a:rPr>
              <a:t>✓ Wins: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32918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Rewards speed and 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7067" y="4023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7067" y="43434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Bad estimate = lost money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8507" y="5120640"/>
            <a:ext cx="3154680" cy="594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8507" y="512064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Mid-level · clear-scope projects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387" y="1097280"/>
            <a:ext cx="3703320" cy="47548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0387" y="109728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0387" y="117043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Value-based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0387" y="173736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0" i="0">
                <a:solidFill>
                  <a:srgbClr val="1B3A5C"/>
                </a:solidFill>
                <a:latin typeface="Amiri"/>
              </a:rPr>
              <a:t>على القيمة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3267" y="22860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1C1C1C"/>
                </a:solidFill>
                <a:latin typeface="Cambria"/>
              </a:rPr>
              <a:t>$X based on value delivered, not effort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3267" y="297179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mbria"/>
              </a:rPr>
              <a:t>✓ Wins: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329184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B3A5C"/>
                </a:solidFill>
                <a:latin typeface="Cambria"/>
              </a:rPr>
              <a:t>Highest ceilings · $5K for 30hr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4023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6B6B"/>
                </a:solidFill>
                <a:latin typeface="Cambria"/>
              </a:rPr>
              <a:t>✗ Loses: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3267" y="43434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Needs experience and confidence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04707" y="5120640"/>
            <a:ext cx="315468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4707" y="5120640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mbria"/>
              </a:rPr>
              <a:t>Experts only · transformative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مصيدة الخمس دولارات — لماذا لا تَبدأ بها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$5/Hour Trap — Why You Should Never Start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Many Yemeni freelancers start at $3–5/hour to "get the first client." Four reasons this is a trap.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91440" cy="109728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6230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6230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600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$5 clients consume more than $50 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العميل بـ٥ أكثر إزعاجاً من العميل بـ٥٠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01168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The cheapest clients demand the most revisions, respect your time the least.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97480"/>
            <a:ext cx="91440" cy="109728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" y="28117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" y="28117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88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Algorithms tie price to quality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7889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الخوارزميّات تَربط السعر بالجودة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0040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A $5/hour profile shows up to bargain-hunters who often don't pay anyway.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8620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86200"/>
            <a:ext cx="91440" cy="109728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" y="400050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" y="40005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77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Promotion later is hard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77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الترقّي لاحقاً صعب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38912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Whoever accepted $5 finds it very hard to ask the same client for $25 later.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074920"/>
            <a:ext cx="11183112" cy="10972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91440" cy="109728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660" y="51892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" y="51892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166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$5 reviews ≠ $25 reviews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166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تقييمات الـ٥ لا تُساوي تقييمات الـ٢٥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577840"/>
            <a:ext cx="9921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 Five-star ratings on $50 projects → next clients pay $30/hr. Same rating on $20 project → you stay at the bottom.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سُلَّم السعر — من ٥ إلى ١٠٠ دولار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Price Ladder — $5 to $100/Hour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0972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097280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0972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097280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11183112" cy="685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4592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$5–10/hr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64592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64592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75B6"/>
                </a:solidFill>
                <a:latin typeface="Cambria"/>
              </a:rPr>
              <a:t>First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64592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Take 3–5 small projects, deliver above expectation, get five 5-star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37744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$12–20/hr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37744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3–5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37744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75B6"/>
                </a:solidFill>
                <a:latin typeface="Cambria"/>
              </a:rPr>
              <a:t>Build reputation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37744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Raise quietly after 5 reviews — new clients pay new rate, old keep theirs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08960"/>
            <a:ext cx="11183112" cy="685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0896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1089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$22–35/hr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10896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6–9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10896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75B6"/>
                </a:solidFill>
                <a:latin typeface="Cambria"/>
              </a:rPr>
              <a:t>Stable income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10896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Start refusing low-budget offers · focus on full-rate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Stage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84048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$40–65/hr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384048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10–18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84048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75B6"/>
                </a:solidFill>
                <a:latin typeface="Cambria"/>
              </a:rPr>
              <a:t>Premium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84048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Position as specialist · case studies · referrals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72000"/>
            <a:ext cx="11183112" cy="6858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572000"/>
            <a:ext cx="14173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Stage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457200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$70–100+/hr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4572000"/>
            <a:ext cx="1783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18+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572000"/>
            <a:ext cx="187451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E75B6"/>
                </a:solidFill>
                <a:latin typeface="Cambria"/>
              </a:rPr>
              <a:t>Expert tier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572000"/>
            <a:ext cx="4069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C1C1C"/>
                </a:solidFill>
                <a:latin typeface="Cambria"/>
              </a:rPr>
              <a:t>Value-based pricing · longer engagements · recurring retainers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التواصل مع العميل — من أوّل رسالة إلى التسليم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Client Communication — Message to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﴿وَقُولُوا لِلنَّاسِ حُسْنًا﴾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البقرة: ٨٣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"And speak to people good words."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Al-Baqarah, 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السلَّم — من الرسالة إلى التسليم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Ladder — From Message to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Communication moves through 4 stages. Every mistake at one stage lowers the success of the next.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999" y="1508760"/>
            <a:ext cx="26974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999" y="1508760"/>
            <a:ext cx="26974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99" y="16002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First Message</a:t>
            </a:r>
          </a:p>
        </p:txBody>
      </p:sp>
      <p:sp>
        <p:nvSpPr>
          <p:cNvPr id="10" name="Oval 9"/>
          <p:cNvSpPr/>
          <p:nvPr/>
        </p:nvSpPr>
        <p:spPr>
          <a:xfrm>
            <a:off x="1551279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1279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" y="28803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الرسالة الأولى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1199" y="3337560"/>
            <a:ext cx="178308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6879" y="34747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Reply within 2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" y="3931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ردّ خلال ساعتَين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319" y="4617720"/>
            <a:ext cx="2148840" cy="685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319" y="46177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Goal:
Build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9767" y="333756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6071" y="1508760"/>
            <a:ext cx="26974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6071" y="1508760"/>
            <a:ext cx="2697480" cy="5943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16071" y="16002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Discovery Call</a:t>
            </a:r>
          </a:p>
        </p:txBody>
      </p:sp>
      <p:sp>
        <p:nvSpPr>
          <p:cNvPr id="22" name="Oval 21"/>
          <p:cNvSpPr/>
          <p:nvPr/>
        </p:nvSpPr>
        <p:spPr>
          <a:xfrm>
            <a:off x="4413351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351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8951" y="28803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2E75B6"/>
                </a:solidFill>
                <a:latin typeface="Amiri"/>
              </a:rPr>
              <a:t>المكالمة الاستكشافيّة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73271" y="3337560"/>
            <a:ext cx="1783080" cy="0"/>
          </a:xfrm>
          <a:prstGeom prst="line">
            <a:avLst/>
          </a:prstGeom>
          <a:ln w="1016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98951" y="34747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Ask 12 specific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8951" y="3931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١٢ سؤالاً محدَّداً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0391" y="4617720"/>
            <a:ext cx="21488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0391" y="46177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Goal:
Find the real 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1839" y="333756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8143" y="1508760"/>
            <a:ext cx="26974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8143" y="1508760"/>
            <a:ext cx="2697480" cy="5943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8143" y="16002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Contract</a:t>
            </a:r>
          </a:p>
        </p:txBody>
      </p:sp>
      <p:sp>
        <p:nvSpPr>
          <p:cNvPr id="34" name="Oval 33"/>
          <p:cNvSpPr/>
          <p:nvPr/>
        </p:nvSpPr>
        <p:spPr>
          <a:xfrm>
            <a:off x="7275423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5423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8803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1B3A5C"/>
                </a:solidFill>
                <a:latin typeface="Amiri"/>
              </a:rPr>
              <a:t>العقد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35343" y="3337560"/>
            <a:ext cx="1783080" cy="0"/>
          </a:xfrm>
          <a:prstGeom prst="line">
            <a:avLst/>
          </a:prstGeom>
          <a:ln w="1016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61023" y="34747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Scope · timeline · payment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3931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نطاق · توقيت · دفع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2463" y="4617720"/>
            <a:ext cx="2148840" cy="6858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2463" y="46177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FFFFFF"/>
                </a:solidFill>
                <a:latin typeface="Cambria"/>
              </a:rPr>
              <a:t>Goal:
Protect both sides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3911" y="3337560"/>
            <a:ext cx="1280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C9A84C"/>
                </a:solidFill>
                <a:latin typeface="Cambria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0215" y="1508760"/>
            <a:ext cx="2697480" cy="39319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0215" y="1508760"/>
            <a:ext cx="2697480" cy="59436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40215" y="160020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Delivery</a:t>
            </a:r>
          </a:p>
        </p:txBody>
      </p:sp>
      <p:sp>
        <p:nvSpPr>
          <p:cNvPr id="46" name="Oval 45"/>
          <p:cNvSpPr/>
          <p:nvPr/>
        </p:nvSpPr>
        <p:spPr>
          <a:xfrm>
            <a:off x="10137495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7495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3095" y="28803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التسليم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97415" y="3337560"/>
            <a:ext cx="1783080" cy="0"/>
          </a:xfrm>
          <a:prstGeom prst="line">
            <a:avLst/>
          </a:prstGeom>
          <a:ln w="1016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223095" y="34747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Exceed expectation by 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3095" y="39319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تجاوز التوقّع بـ١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14535" y="4617720"/>
            <a:ext cx="2148840" cy="685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14535" y="46177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1B3A5C"/>
                </a:solidFill>
                <a:latin typeface="Cambria"/>
              </a:rPr>
              <a:t>Goal:
Build reputation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Replying after 24 hours loses the deal in 70% of cases. 5-min replies signal desperation.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ساعتان كافية للتأمّل دون الإهمال — لا فوريّة مُربكة، ولا تأخيراً قاتلاً.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اثنا عشر سؤالاً للمكالمة الاستكشافيّة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Twelve Discovery Call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The discovery call reveals what the client doesn't write. Practice these until they flow naturally.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 is the actual problem this project solves for your business?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 did you try before that didn't work?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90195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Who reviews the work on your team?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01952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901952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 does success look like? How will you know it's excellent?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95144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4086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408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What's the ideal timeline? Maximum allowed?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95144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340864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3408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What's your budget range?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779776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7977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Who else competes with you that does this well?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79776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8.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77977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 technical constraints exist? (platforms, tools, integrations)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172968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18688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9.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21868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How will we communicate? (Slack, email, calls)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172968"/>
            <a:ext cx="5532120" cy="39319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18688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10.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21868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How often do you want updates? (daily, weekly, milestone)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576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11.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65760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What happens after delivery? Ongoing support? Handoff?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657600"/>
            <a:ext cx="411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12.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65760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B3A5C"/>
                </a:solidFill>
                <a:latin typeface="Cambria"/>
              </a:rPr>
              <a:t>Anything you haven't told me that I should know?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Question 12 is the most important — clients often reveal a critical detail they were hesitating to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استلام المدفوعات في اليمن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Receiving Payments in Yemen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«أَعْطُوا الأَجِيرَ أَجْرَهُ قَبْلَ أَنْ يَجِفَّ عَرَقُهُ»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رواه ابن ماجه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"Give the worker his wages before his sweat dries."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Reported by Ibn Majah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لماذا الأمر معقّد في اليمن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Why Payments Are Hard in Yemen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mbria"/>
              </a:rPr>
              <a:t>Three structural challenges Yemeni freelancers face that others don't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91440" cy="137160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8660" y="185166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185166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Sanctions &amp; restrictions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B84747"/>
                </a:solidFill>
                <a:latin typeface="Amiri"/>
              </a:rPr>
              <a:t>العقوبات والحظر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19456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Some international financial services classify Yemen as "high risk."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56032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B84747"/>
                </a:solidFill>
                <a:latin typeface="Cambria"/>
              </a:rPr>
              <a:t>→  Doors that open in Egypt or Jordan stay closed for Yemen.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91440" cy="13716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8660" y="336042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" y="33604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Local banking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C9A84C"/>
                </a:solidFill>
                <a:latin typeface="Amiri"/>
              </a:rPr>
              <a:t>النظام البنكيّ المحلّي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70332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Yemeni banks operate with difficulty in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06908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C9A84C"/>
                </a:solidFill>
                <a:latin typeface="Cambria"/>
              </a:rPr>
              <a:t>→  International transfers face restrictions and weeks of delay.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183112" cy="13716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09160"/>
            <a:ext cx="91440" cy="13716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660" y="4869180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" y="486918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3A5C"/>
                </a:solidFill>
                <a:latin typeface="Cambria"/>
              </a:rPr>
              <a:t>Riyal volatility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800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500" b="0" i="0">
                <a:solidFill>
                  <a:srgbClr val="2E75B6"/>
                </a:solidFill>
                <a:latin typeface="Amiri"/>
              </a:rPr>
              <a:t>تقلّبات الريال اليمنيّ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21208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1C1C"/>
                </a:solidFill>
                <a:latin typeface="Cambria"/>
              </a:rPr>
              <a:t>→  Currency value fluctuates significantly.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577840"/>
            <a:ext cx="9921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E75B6"/>
                </a:solidFill>
                <a:latin typeface="Cambria"/>
              </a:rPr>
              <a:t>→  What you receive today as $100 may equal $95 next week.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But thousands of Yemeni freelancers DO get paid. The path isn't impossible — it just needs planning.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ست طرق لاستلام المدفوعات — الواقع في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Six Payment Methods — 2026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097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Yemen status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09728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0972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00200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Payoneer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Won't accept Yemeni address; many use a Gulf or Jordan/Egypt 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00200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1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600200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4747"/>
                </a:solidFill>
                <a:latin typeface="Cambria"/>
              </a:rPr>
              <a:t>Account freeze if discovered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Wise (TransferWise)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13432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Same — needs an accepted-country address (UAE, KSA, Jordan, Turkey)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13432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13432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84747"/>
                </a:solidFill>
                <a:latin typeface="Cambria"/>
              </a:rPr>
              <a:t>Sudden freeze possible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26664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26664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USDT / USDC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26664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Binance &amp; OKX accept Yemeni KYC; very common for Yemeni freelancers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026664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26664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9A84C"/>
                </a:solidFill>
                <a:latin typeface="Cambria"/>
              </a:rPr>
              <a:t>Crypto volatility (mostly stable)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39896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Bank transfer (SWIFT)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739896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Some Yemeni banks still process; weeks of delay common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739896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1–3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739896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6B6B"/>
                </a:solidFill>
                <a:latin typeface="Cambria"/>
              </a:rPr>
              <a:t>Delay · partial losses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453128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53128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Western Union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453128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Usually works but high fees (8–12%) and limits per 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453128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Same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453128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6B6B"/>
                </a:solidFill>
                <a:latin typeface="Cambria"/>
              </a:rPr>
              <a:t>Fees eat profit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166360"/>
            <a:ext cx="269748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Family in Gulf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166360"/>
            <a:ext cx="32461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Open the account in their name with written agreement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166360"/>
            <a:ext cx="26060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C1C1C"/>
                </a:solidFill>
                <a:latin typeface="Cambria"/>
              </a:rPr>
              <a:t>1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166360"/>
            <a:ext cx="233172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E75B6"/>
                </a:solidFill>
                <a:latin typeface="Cambria"/>
              </a:rPr>
              <a:t>Trust-dependent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Recommendation: Don't depend on one method. Combine USDT + a Gulf-family Payoneer + bank as backup.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B84747"/>
                </a:solidFill>
                <a:latin typeface="Cambria"/>
              </a:rPr>
              <a:t>⚠ Verify current platform &amp; bank policies before each transfer — this changes faster than this book updates.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التحدّيات الخاصّة باليمن وكيف تَتجاوزها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Yemen-Specific Challenges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﴿وَمَنْ يَتَّقِ اللَّهَ يَجْعَلْ لَهُ مَخْرَجًا ۞ وَيَرْزُقْهُ مِنْ حَيْثُ لَا يَحْتَسِبُ﴾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الطلاق: ٢-٣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"Whoever fears Allah, He makes for him a way out — and provides for him from where he does not expect."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At-Talaq, 2–3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خمسة تحدّيات تَختلف فيها عن مستقلّي العالم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Five Challenges Where You Differ from Global Freelancers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267" y="1097280"/>
            <a:ext cx="2240280" cy="1965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2267" y="1097280"/>
            <a:ext cx="22402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3807" y="12344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707" y="178308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Internet instability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70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2E75B6"/>
                </a:solidFill>
                <a:latin typeface="Amiri"/>
              </a:rPr>
              <a:t>اضطراب الإنترنت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587" y="2606040"/>
            <a:ext cx="1691640" cy="0"/>
          </a:xfrm>
          <a:prstGeom prst="line">
            <a:avLst/>
          </a:prstGeom>
          <a:ln w="63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3707" y="26700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6–12 hrs/day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3987" y="1097280"/>
            <a:ext cx="2240280" cy="1965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3987" y="1097280"/>
            <a:ext cx="2240280" cy="9144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5527" y="12344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527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427" y="178308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Power outages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42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B84747"/>
                </a:solidFill>
                <a:latin typeface="Amiri"/>
              </a:rPr>
              <a:t>انقطاع الكهرباء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18307" y="2606040"/>
            <a:ext cx="1691640" cy="0"/>
          </a:xfrm>
          <a:prstGeom prst="line">
            <a:avLst/>
          </a:prstGeom>
          <a:ln w="6350">
            <a:solidFill>
              <a:srgbClr val="B8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35427" y="26700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Hours daily without 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75707" y="1097280"/>
            <a:ext cx="2240280" cy="1965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75707" y="1097280"/>
            <a:ext cx="2240280" cy="9144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7247" y="12344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7247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147" y="178308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Time zone &amp; geography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714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الفروقات الزمنيّة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50027" y="2606040"/>
            <a:ext cx="1691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67147" y="26700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8 hrs ahead of US East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07427" y="1097280"/>
            <a:ext cx="2240280" cy="1965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07427" y="1097280"/>
            <a:ext cx="2240280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98967" y="12344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8967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8867" y="178308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Country reputation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886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السمعة الدوليّة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81747" y="2606040"/>
            <a:ext cx="1691640" cy="0"/>
          </a:xfrm>
          <a:prstGeom prst="line">
            <a:avLst/>
          </a:prstGeom>
          <a:ln w="635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98867" y="26700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Some clients wary of Yemen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39147" y="1097280"/>
            <a:ext cx="2240280" cy="1965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39147" y="1097280"/>
            <a:ext cx="2240280" cy="9144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30687" y="1234440"/>
            <a:ext cx="457200" cy="457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0687" y="1234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0587" y="178308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Mental health in conflict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0587" y="2194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6B6B6B"/>
                </a:solidFill>
                <a:latin typeface="Amiri"/>
              </a:rPr>
              <a:t>الصحّة النفسيّة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913467" y="2606040"/>
            <a:ext cx="1691640" cy="0"/>
          </a:xfrm>
          <a:prstGeom prst="line">
            <a:avLst/>
          </a:prstGeom>
          <a:ln w="635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30587" y="26700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Burnout risk is real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291840"/>
            <a:ext cx="11183112" cy="28803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3291840"/>
            <a:ext cx="11183112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355848"/>
            <a:ext cx="111831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How to mitigate  ·  كيف تَلتفّ على هذه التحدّيات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397764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39776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Offline-first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97764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Download docs, work without internet, upload when connection returns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438912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4389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Solar setup ($250–500)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438912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First $500 you earn → invest in panels + battery for 6–8 hrs of 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80060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4800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Deliver in YOUR evening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48006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= client's morning — they wake up to finished work, not waiting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21208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5212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Disclose proactively in contract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52120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"I work from Yemen with possible disruptions; I plan 24–48hr safety margin"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623560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4440" y="5623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mbria"/>
              </a:rPr>
              <a:t>Balance · 4–6 hrs deep work daily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562356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 Don't work 12 hrs/day — burnout costs more than slow growth saves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الاستثمار الأوّل — الكهرباء والإنترنت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First Investment — Power &amp;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Your first $500 of freelance income should buy your independence from the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أوّل ٥٠٠ دولار تَكسبها — استثمرها في استقلالك عن الشبكة.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7987" y="2103120"/>
            <a:ext cx="3703320" cy="3108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7987" y="210312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987" y="21762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Solar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نظام شمسيّ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32004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$250–500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5187" y="3931920"/>
            <a:ext cx="278892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867" y="40233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Powers laptop + router + 2–3 lights for 6–8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" y="4617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2E75B6"/>
                </a:solidFill>
                <a:latin typeface="Cambria"/>
              </a:rPr>
              <a:t>→ Pays itself back in 2–3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4187" y="2103120"/>
            <a:ext cx="3703320" cy="3108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4187" y="210312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4187" y="21762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Backup data 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7067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بطاقة بيانات احتياط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7067" y="32004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$15–30/mo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1387" y="3931920"/>
            <a:ext cx="278892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27067" y="40233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Different carrier than your primary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7067" y="4617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2E75B6"/>
                </a:solidFill>
                <a:latin typeface="Cambria"/>
              </a:rPr>
              <a:t>→ Critical for deadline-day disasters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0387" y="2103120"/>
            <a:ext cx="3703320" cy="310896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0387" y="210312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0387" y="2176272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B3A5C"/>
                </a:solidFill>
                <a:latin typeface="Cambria"/>
              </a:rPr>
              <a:t>Power bank 30,000+ mAh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267" y="274320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0">
                <a:solidFill>
                  <a:srgbClr val="C9A84C"/>
                </a:solidFill>
                <a:latin typeface="Amiri"/>
              </a:rPr>
              <a:t>باور بانك كبير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3267" y="320040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9A84C"/>
                </a:solidFill>
                <a:latin typeface="Cambria"/>
              </a:rPr>
              <a:t>$60–120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87587" y="3931920"/>
            <a:ext cx="278892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3267" y="402336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1B3A5C"/>
                </a:solidFill>
                <a:latin typeface="Cambria"/>
              </a:rPr>
              <a:t>Charges laptop fully once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3267" y="461772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0">
                <a:solidFill>
                  <a:srgbClr val="2E75B6"/>
                </a:solidFill>
                <a:latin typeface="Cambria"/>
              </a:rPr>
              <a:t>→ Emergency-only — keep charged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بناء سمعة وتقييمات خمس نجوم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Building Reputation &amp; Five-Star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﴿وَالْعَصْرِ ۞ إِنَّ الْإِنسَانَ لَفِي خُسْرٍ ۞ إِلَّا الَّذِينَ آمَنُوا وَعَمِلُوا الصَّالِحَاتِ﴾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العصر: ١-٣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"By time — indeed mankind is in loss, except those who believe and do righteous deeds."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Al-Asr, 1–3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أوّل خمس تقييمات &gt; الخمسين التالية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Your First 5 Reviews &gt; the Next 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Cambria"/>
              </a:rPr>
              <a:t>★ ★ ★ ★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5 perfect reviews = strong signal to platform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خوارزميّات المنصّات تَحسب التقييمات الأولى ضِعف ما بعدها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287" y="3749039"/>
            <a:ext cx="54406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3749039"/>
            <a:ext cx="544068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" y="3794759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✓  5 reviews · 5.0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43433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C9A84C"/>
                </a:solidFill>
                <a:latin typeface="Cambria"/>
              </a:rPr>
              <a:t>Algorithm puts you in TOP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484631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More views · more invitations · faster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607" y="52577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خوارزميّة المنصّة تَضعك في الشريحة العليا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749039"/>
            <a:ext cx="5440680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749039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8727" y="3794759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✗  20 reviews · 4.7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43433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B84747"/>
                </a:solidFill>
                <a:latin typeface="Cambria"/>
              </a:rPr>
              <a:t>Algorithm DOWNRANKS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84631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1B3A5C"/>
                </a:solidFill>
                <a:latin typeface="Cambria"/>
              </a:rPr>
              <a:t>Despite more proof, fewer views and offers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57799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تقييم منخفض واحد كافٍ ليُقلّل ظهورك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Strategy: spend 25% extra time FREE on your first 5 projects to guarantee five-star reviews.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إطار «تَجاوَز بـ١» — لا أكثر، لا أقلّ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Exceed-by-One Framework — Surprise, Don't Drown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Many freelancers try to over-deliver on everything. The result: burnout, late delivery, scope creep.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987" y="1508760"/>
            <a:ext cx="3703320" cy="2834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987" y="1508760"/>
            <a:ext cx="370332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987" y="16002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Content writer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21945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Agreed: 5 posts. Deliver: 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29260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B84747"/>
                </a:solidFill>
                <a:latin typeface="Cambria"/>
              </a:rPr>
              <a:t>✗ Don't add 3 free images + content calendar.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5187" y="3611880"/>
            <a:ext cx="278892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0867" y="3749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One pleasant surprise, not five overwhelming extras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4187" y="1508760"/>
            <a:ext cx="3703320" cy="2834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4187" y="1508760"/>
            <a:ext cx="370332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4187" y="16002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7067" y="21945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Agreed: chatbot. Deliver: chatbot + 5-min Loom explainer.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7067" y="29260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B84747"/>
                </a:solidFill>
                <a:latin typeface="Cambria"/>
              </a:rPr>
              <a:t>✗ Don't add 3 unrequested features.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1387" y="3611880"/>
            <a:ext cx="2788920" cy="0"/>
          </a:xfrm>
          <a:prstGeom prst="line">
            <a:avLst/>
          </a:prstGeom>
          <a:ln w="63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27067" y="3749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Show your work — don't expand the 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0387" y="1508760"/>
            <a:ext cx="3703320" cy="283464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0387" y="1508760"/>
            <a:ext cx="370332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0387" y="1600200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3267" y="21945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1">
                <a:solidFill>
                  <a:srgbClr val="1B3A5C"/>
                </a:solidFill>
                <a:latin typeface="Cambria"/>
              </a:rPr>
              <a:t>Agreed: logo. Deliver: logo + 1 social banner (free).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267" y="29260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B84747"/>
                </a:solidFill>
                <a:latin typeface="Cambria"/>
              </a:rPr>
              <a:t>✗ Don't add full brand identity.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87587" y="3611880"/>
            <a:ext cx="2788920" cy="0"/>
          </a:xfrm>
          <a:prstGeom prst="line">
            <a:avLst/>
          </a:prstGeom>
          <a:ln w="6350">
            <a:solidFill>
              <a:srgbClr val="1B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13267" y="37490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6B6B6B"/>
                </a:solidFill>
                <a:latin typeface="Cambria"/>
              </a:rPr>
              <a:t>→ A small thoughtful extra signals care, not chaos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617720"/>
            <a:ext cx="11183112" cy="1691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Review request — timing &amp; 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7492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Cambria"/>
              </a:rPr>
              <a:t>When: 24–72 hrs after final delivery, OR right after the client sends a positive message.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"Glad the project is serving you well. A small ask: a review on [platform] helps me build my reputation.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521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If it deserves 5 stars, 30 seconds of your time would mean a lot. Direct link: [link]"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55767" y="868680"/>
            <a:ext cx="1280160" cy="128016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55767" y="8686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0" b="1" i="0">
                <a:solidFill>
                  <a:srgbClr val="1B3A5C"/>
                </a:solidFill>
                <a:latin typeface="Cambria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C9A84C"/>
                </a:solidFill>
                <a:latin typeface="Cambria"/>
              </a:rPr>
              <a:t>CHAPTER  ·  الفصل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miri"/>
              </a:rPr>
              <a:t>من العمل الحرّ إلى وكالة صغيرة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C9A84C"/>
                </a:solidFill>
                <a:latin typeface="Cambria"/>
              </a:rPr>
              <a:t>From Freelancer to Small Agency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47207" y="4251960"/>
            <a:ext cx="109728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10360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>
                <a:solidFill>
                  <a:srgbClr val="F5F0E8"/>
                </a:solidFill>
                <a:latin typeface="Amiri"/>
              </a:rPr>
              <a:t>﴿وَتَعَاوَنُوا عَلَى الْبِرِّ وَالتَّقْوَىٰ ۖ وَلَا تَعَاوَنُوا عَلَى الْإِثْمِ وَالْعُدْوَانِ﴾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400" b="0" i="1">
                <a:solidFill>
                  <a:srgbClr val="C9A84C"/>
                </a:solidFill>
                <a:latin typeface="Amiri"/>
              </a:rPr>
              <a:t>— سورة المائدة: 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F5F0E8"/>
                </a:solidFill>
                <a:latin typeface="Cambria"/>
              </a:rPr>
              <a:t>"Cooperate in righteousness and piety — not in sin and aggression."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— Surat Al-Ma'idah,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متى تَتوسَّع — قاعدة الـ٨٠٪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When to Scale — The 80%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Utilization = paid hours ÷ available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الاستخدام = ساعات مدفوعة ÷ ساعات متاحة للعمل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03120"/>
            <a:ext cx="2697480" cy="5029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7568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Lots of free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075688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 Focus on selling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24912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816352"/>
            <a:ext cx="26974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1635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Healthy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78892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 Keep building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38144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529584"/>
            <a:ext cx="26974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29584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50215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Approaching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502152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 Plan your 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151376"/>
            <a:ext cx="11183112" cy="66751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42816"/>
            <a:ext cx="2697480" cy="5029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42816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80%+ for 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21538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9A84C"/>
                </a:solidFill>
                <a:latin typeface="Cambria"/>
              </a:rPr>
              <a:t>TIME TO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215384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FFFFFF"/>
                </a:solidFill>
                <a:latin typeface="Cambria"/>
              </a:rPr>
              <a:t>→  Hire your first subcontractor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64608"/>
            <a:ext cx="11183112" cy="66751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956048"/>
            <a:ext cx="2697480" cy="50292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92861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Refusing clients weekly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28616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→  You're already 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نموذج المقاول الفرعيّ — قاعدة ٦٠/٤٠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Subcontractor Model — The 60/40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Start with subcontractors, NOT full-time employees. Pay-per-project, no ongoing obligation.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21031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6675120" cy="178308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B3A5C"/>
                </a:solidFill>
                <a:latin typeface="Cambria"/>
              </a:rPr>
              <a:t>60–65%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1B3A5C"/>
                </a:solidFill>
                <a:latin typeface="Cambria"/>
              </a:rPr>
              <a:t>Pay to subcontractor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1B3A5C"/>
                </a:solidFill>
                <a:latin typeface="Amiri"/>
              </a:rPr>
              <a:t>تَدفع للمقاول الفرعيّ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B3A5C"/>
                </a:solidFill>
                <a:latin typeface="Cambria"/>
              </a:rPr>
              <a:t>They do the bulk of the production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91640"/>
            <a:ext cx="3840480" cy="17830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83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9A84C"/>
                </a:solidFill>
                <a:latin typeface="Cambria"/>
              </a:rPr>
              <a:t>35–40%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3317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C9A84C"/>
                </a:solidFill>
                <a:latin typeface="Cambria"/>
              </a:rPr>
              <a:t>You keep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97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تَأخذ أنت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1089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C9A84C"/>
                </a:solidFill>
                <a:latin typeface="Cambria"/>
              </a:rPr>
              <a:t>Your sales, review, and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What your 35–40% pays for  ·  ما يُغطّيه نَصيبك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891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531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Finding the client (sales)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45312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البحث عن العميل (البيع)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103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103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Reviewing &amp; polishing the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91032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مراجعة العمل وتنقيحه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03520"/>
            <a:ext cx="11183112" cy="41148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675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675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Project management &amp;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536752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إدارة المشروع والتواصل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247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82472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Cambria"/>
              </a:rPr>
              <a:t>Profit on managing the situation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582472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ربح إدارة الموقف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عَشر خلاصات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Ten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54406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Pick TWO platforms — Anchor + Range, not four.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اختر اثنتَين فقط — مرساة ومدى.</a:t>
            </a:r>
          </a:p>
        </p:txBody>
      </p:sp>
      <p:sp>
        <p:nvSpPr>
          <p:cNvPr id="10" name="Oval 9"/>
          <p:cNvSpPr/>
          <p:nvPr/>
        </p:nvSpPr>
        <p:spPr>
          <a:xfrm>
            <a:off x="54406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ONE specialty for 12 months — switch costs 6 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تخصّص واحد لـ١٢ شهراً.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Profile reads in 7 seconds — write for that.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ملفّك يُقرأ في ٧ ثوانٍ.</a:t>
            </a:r>
          </a:p>
        </p:txBody>
      </p:sp>
      <p:sp>
        <p:nvSpPr>
          <p:cNvPr id="18" name="Oval 17"/>
          <p:cNvSpPr/>
          <p:nvPr/>
        </p:nvSpPr>
        <p:spPr>
          <a:xfrm>
            <a:off x="54406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Title formula: Result + Tool + Audience.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العنوان = نتيجة + أداة + جمهور.</a:t>
            </a:r>
          </a:p>
        </p:txBody>
      </p:sp>
      <p:sp>
        <p:nvSpPr>
          <p:cNvPr id="22" name="Oval 21"/>
          <p:cNvSpPr/>
          <p:nvPr/>
        </p:nvSpPr>
        <p:spPr>
          <a:xfrm>
            <a:off x="54406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3 excellent portfolio pieces &gt; 12 mediocre.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٣ قطع ممتازة &gt; ١٢ متوسّطة.</a:t>
            </a:r>
          </a:p>
        </p:txBody>
      </p:sp>
      <p:sp>
        <p:nvSpPr>
          <p:cNvPr id="26" name="Oval 25"/>
          <p:cNvSpPr/>
          <p:nvPr/>
        </p:nvSpPr>
        <p:spPr>
          <a:xfrm>
            <a:off x="6441948" y="112014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11201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109728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Proposals follow MDDP — Mirror Diagnose Demo Propose.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44475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العروض = MDDP.</a:t>
            </a:r>
          </a:p>
        </p:txBody>
      </p:sp>
      <p:sp>
        <p:nvSpPr>
          <p:cNvPr id="30" name="Oval 29"/>
          <p:cNvSpPr/>
          <p:nvPr/>
        </p:nvSpPr>
        <p:spPr>
          <a:xfrm>
            <a:off x="6441948" y="212598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948" y="21259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103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$5/hr is a trap — start at $10–15 minimum.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45059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ابدأ من ١٠–١٥ دولار/ساعة.</a:t>
            </a:r>
          </a:p>
        </p:txBody>
      </p:sp>
      <p:sp>
        <p:nvSpPr>
          <p:cNvPr id="34" name="Oval 33"/>
          <p:cNvSpPr/>
          <p:nvPr/>
        </p:nvSpPr>
        <p:spPr>
          <a:xfrm>
            <a:off x="6441948" y="313182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1948" y="31318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1089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Reply within 2 hrs — not 5 minutes, not 24 hrs.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345643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ردّ خلال ساعتَين.</a:t>
            </a:r>
          </a:p>
        </p:txBody>
      </p:sp>
      <p:sp>
        <p:nvSpPr>
          <p:cNvPr id="38" name="Oval 37"/>
          <p:cNvSpPr/>
          <p:nvPr/>
        </p:nvSpPr>
        <p:spPr>
          <a:xfrm>
            <a:off x="6441948" y="413766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1948" y="41376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114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First 5 reviews matter more than the next 50.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46227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أوّل ٥ تقييمات &gt; الـ٥٠ التالية.</a:t>
            </a:r>
          </a:p>
        </p:txBody>
      </p:sp>
      <p:sp>
        <p:nvSpPr>
          <p:cNvPr id="42" name="Oval 41"/>
          <p:cNvSpPr/>
          <p:nvPr/>
        </p:nvSpPr>
        <p:spPr>
          <a:xfrm>
            <a:off x="6441948" y="5143500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1948" y="51435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3A5C"/>
                </a:solidFill>
                <a:latin typeface="Cambria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1206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Diversify payments — never depend on one method.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5468112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1C1C1C"/>
                </a:solidFill>
                <a:latin typeface="Amiri"/>
              </a:rPr>
              <a:t>نوّع طرق الدفع.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خطّة الإطلاق — سبعة أيّام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Launch Plan — Seven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7132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53896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اليوم 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143000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Pick your track (A or B), pick ONE specialization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481328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Decision day · 90 min reflection + commitment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56232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856232"/>
            <a:ext cx="1828800" cy="7132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56232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12848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اليوم 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901952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Open accounts: Khamsat + Upwork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240280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Anchor + Range platforms · NOTHING ELSE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15184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615184"/>
            <a:ext cx="1828800" cy="7132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15184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71800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اليوم 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660904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Take a professional photo + write title using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999232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Result + Tool + Audience · 5 drafts before final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74136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374136"/>
            <a:ext cx="1828800" cy="7132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74136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Day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30752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اليوم 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419856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Write the four-paragraph 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758184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Hook → Credibility → Process → CTA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133088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133088"/>
            <a:ext cx="1828800" cy="7132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Day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489704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اليوم 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178808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Build 3 portfolio pieces (use the 5 strategies)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517136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Volunteer / sample / friend's project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92040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892040"/>
            <a:ext cx="1828800" cy="713232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892040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C9A84C"/>
                </a:solidFill>
                <a:latin typeface="Cambria"/>
              </a:rPr>
              <a:t>Day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48656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Amiri"/>
              </a:rPr>
              <a:t>اليوم 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937760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Publish profile · send 10 first proposals using MDDP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276088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Quality over quantity — 10 great &gt; 50 generic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650992"/>
            <a:ext cx="11183112" cy="713232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650992"/>
            <a:ext cx="1828800" cy="7132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50992"/>
            <a:ext cx="18288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Day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007608"/>
            <a:ext cx="18288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اليوم 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5696712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Reflect · adjust · plan week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6035040"/>
            <a:ext cx="9006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B"/>
                </a:solidFill>
                <a:latin typeface="Cambria"/>
              </a:rPr>
              <a:t>→ Track what worked, what didn't, iterate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فخّ الأسبوع الثالث — ٦٠٪ يَستسلمون هنا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The Week 3 Trap — 60% Give Up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 i="0">
                <a:solidFill>
                  <a:srgbClr val="B84747"/>
                </a:solidFill>
                <a:latin typeface="Cambria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1">
                <a:solidFill>
                  <a:srgbClr val="1B3A5C"/>
                </a:solidFill>
                <a:latin typeface="Cambria"/>
              </a:rPr>
              <a:t>of LLM4Yemen graduates give up — not from lack of skill, but in the third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ليس من نقص المهارة — بل لأنّ الإحباط يَبدو حقيقيّاً جدّاً، والنتيجة بعيدة جدّاً.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7987" y="3749039"/>
            <a:ext cx="3703320" cy="1874519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7987" y="3749039"/>
            <a:ext cx="3703320" cy="457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987" y="3794759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mbria"/>
              </a:rPr>
              <a:t>Week 1  ·  الأسبوع 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434339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C9A84C"/>
                </a:solidFill>
                <a:latin typeface="Cambria"/>
              </a:rPr>
              <a:t>Energy &amp; hope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" y="4800599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تحمّس · تعمل بحماس · بعض القبولات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4187" y="3749039"/>
            <a:ext cx="3703320" cy="1874519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4187" y="3749039"/>
            <a:ext cx="370332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4187" y="3794759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Week 2  ·  الأسبوع 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7067" y="434339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2E75B6"/>
                </a:solidFill>
                <a:latin typeface="Cambria"/>
              </a:rPr>
              <a:t>Rejections begin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7067" y="4800599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ترسل ١٠، يُقبَل صفر · تَتشكّك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0387" y="3749039"/>
            <a:ext cx="3703320" cy="1874519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0387" y="3749039"/>
            <a:ext cx="3703320" cy="457200"/>
          </a:xfrm>
          <a:prstGeom prst="rect">
            <a:avLst/>
          </a:prstGeom>
          <a:solidFill>
            <a:srgbClr val="B84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0387" y="3794759"/>
            <a:ext cx="3703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Week 3  ·  الأسبوع 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3267" y="4343399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B84747"/>
                </a:solidFill>
                <a:latin typeface="Cambria"/>
              </a:rPr>
              <a:t>The 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3267" y="4800599"/>
            <a:ext cx="3337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00" b="0" i="0">
                <a:solidFill>
                  <a:srgbClr val="1B3A5C"/>
                </a:solidFill>
                <a:latin typeface="Amiri"/>
              </a:rPr>
              <a:t>«ربّما لستُ مناسباً» · ٦٠٪ يَستسلمون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C9A84C"/>
                </a:solidFill>
                <a:latin typeface="Cambria"/>
              </a:rPr>
              <a:t>Know now: this week is coming. The difference between you and them is 21 more days of persistence.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00" b="0" i="0">
                <a:solidFill>
                  <a:srgbClr val="1B3A5C"/>
                </a:solidFill>
                <a:latin typeface="Amiri"/>
              </a:rPr>
              <a:t>الفرق بينك وبينهم ليس الموهبة — الفرق ٢١ يوماً إضافيّاً من الإصرار.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Amiri"/>
              </a:rPr>
              <a:t>نصيحة الأكوع الشخصيّة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Author's Personal Advice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88720"/>
            <a:ext cx="10634472" cy="4846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188720"/>
            <a:ext cx="91440" cy="4846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ambria"/>
              </a:rPr>
              <a:t>From Dr. Fadhl, writing from Michigan — April 2026, after 18 years between universities, labs, and writing.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1">
                <a:solidFill>
                  <a:srgbClr val="1B3A5C"/>
                </a:solidFill>
                <a:latin typeface="Cambria"/>
              </a:rPr>
              <a:t>One thing I want to leave you with: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974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Work with integrity for five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6974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اعمل بأمانة لخمس سنوات.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101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64408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Don't be tempted by quick profits.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64408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لا تُغرَّ بالأرباح السريعة.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31336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Don't deceive a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831336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لا تَخدع عميلاً.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439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98264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Don't raise your price on someone in need who depends on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4398264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لا ترفع سعرك على عاجز يَحتاج المساعدة.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09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9A84C"/>
                </a:solidFill>
                <a:latin typeface="Cambria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651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3A5C"/>
                </a:solidFill>
                <a:latin typeface="Cambria"/>
              </a:rPr>
              <a:t>Don't refuse small work that deserves excellence — just because it's small.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965192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00" b="0" i="0">
                <a:solidFill>
                  <a:srgbClr val="C9A84C"/>
                </a:solidFill>
                <a:latin typeface="Amiri"/>
              </a:rPr>
              <a:t>لا ترفض عملاً صغيراً يَستحقّ الإتقان لأنّه صغير.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C9A84C"/>
                </a:solidFill>
                <a:latin typeface="Cambria"/>
              </a:rPr>
              <a:t>In year five, you'll find yourself somewhere others don't reach — because they ran. You walked, but with steadiness.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LLM4Yemen  ·  AI Freelancing  ·  العمل الحرّ بالذكاء الاصطناعي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mbria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7200" b="1" i="0">
                <a:solidFill>
                  <a:srgbClr val="C9A84C"/>
                </a:solidFill>
                <a:latin typeface="Amiri"/>
              </a:rPr>
              <a:t>والله أعلم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And Allah knows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3337560"/>
            <a:ext cx="2743200" cy="3657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C9A84C"/>
                </a:solidFill>
                <a:latin typeface="Cambria"/>
              </a:rPr>
              <a:t>Thank you  ·  شكراً لكم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miri"/>
              </a:rPr>
              <a:t>د. فضل محمد الأكوع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83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Cambria"/>
              </a:rPr>
              <a:t>Dr. Fadhl Mohammed Alakwaa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C9A84C"/>
                </a:solidFill>
                <a:latin typeface="Cambria"/>
              </a:rPr>
              <a:t>LLM4Yemen Program  ·  Track A  ·  Week 6  ·  AI-Powered Freelancing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0E8"/>
                </a:solidFill>
                <a:latin typeface="Cambria"/>
              </a:rPr>
              <a:t>"Walk its paths and eat from His provision."   ·   ﴿فامشوا في مناكبها وكلوا من رزقه﴾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C9A84C"/>
                </a:solidFill>
                <a:latin typeface="Cambria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